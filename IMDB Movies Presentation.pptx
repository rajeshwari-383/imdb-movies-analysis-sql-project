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shwari Pasunuri" userId="c3ce138c40912aea" providerId="LiveId" clId="{48B9BCEC-BB99-4237-B168-360A60A1462B}"/>
    <pc:docChg chg="modSld">
      <pc:chgData name="Rajeshwari Pasunuri" userId="c3ce138c40912aea" providerId="LiveId" clId="{48B9BCEC-BB99-4237-B168-360A60A1462B}" dt="2026-09-11T07:02:26.493" v="19" actId="1076"/>
      <pc:docMkLst>
        <pc:docMk/>
      </pc:docMkLst>
      <pc:sldChg chg="modSp mod">
        <pc:chgData name="Rajeshwari Pasunuri" userId="c3ce138c40912aea" providerId="LiveId" clId="{48B9BCEC-BB99-4237-B168-360A60A1462B}" dt="2026-09-11T07:02:06.115" v="17" actId="1076"/>
        <pc:sldMkLst>
          <pc:docMk/>
          <pc:sldMk cId="0" sldId="257"/>
        </pc:sldMkLst>
        <pc:spChg chg="mod">
          <ac:chgData name="Rajeshwari Pasunuri" userId="c3ce138c40912aea" providerId="LiveId" clId="{48B9BCEC-BB99-4237-B168-360A60A1462B}" dt="2026-09-11T06:59:42.873" v="0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1T06:59:49.225" v="1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1T07:00:08.703" v="4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1T07:00:21.381" v="5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1T07:00:48.128" v="7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1T07:00:42.965" v="6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1T07:00:59.341" v="8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1T07:01:10.333" v="9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1T07:01:18.431" v="10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1T07:01:23.788" v="11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1T07:01:37.634" v="13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1T07:01:29.543" v="12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1T07:01:55.347" v="15" actId="107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1T07:01:50.452" v="14" actId="107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1T07:02:06.115" v="17" actId="107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1T07:02:01.905" v="16" actId="1076"/>
          <ac:spMkLst>
            <pc:docMk/>
            <pc:sldMk cId="0" sldId="257"/>
            <ac:spMk id="27" creationId="{00000000-0000-0000-0000-000000000000}"/>
          </ac:spMkLst>
        </pc:spChg>
      </pc:sldChg>
      <pc:sldChg chg="modSp mod">
        <pc:chgData name="Rajeshwari Pasunuri" userId="c3ce138c40912aea" providerId="LiveId" clId="{48B9BCEC-BB99-4237-B168-360A60A1462B}" dt="2026-09-11T07:02:26.493" v="19" actId="1076"/>
        <pc:sldMkLst>
          <pc:docMk/>
          <pc:sldMk cId="0" sldId="258"/>
        </pc:sldMkLst>
        <pc:spChg chg="mod">
          <ac:chgData name="Rajeshwari Pasunuri" userId="c3ce138c40912aea" providerId="LiveId" clId="{48B9BCEC-BB99-4237-B168-360A60A1462B}" dt="2026-09-11T07:02:20.798" v="18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Rajeshwari Pasunuri" userId="c3ce138c40912aea" providerId="LiveId" clId="{48B9BCEC-BB99-4237-B168-360A60A1462B}" dt="2026-09-11T07:02:26.493" v="19" actId="1076"/>
          <ac:spMkLst>
            <pc:docMk/>
            <pc:sldMk cId="0" sldId="258"/>
            <ac:spMk id="1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41080" y="0"/>
            <a:ext cx="3547872" cy="6858000"/>
          </a:xfrm>
          <a:prstGeom prst="rect">
            <a:avLst/>
          </a:prstGeom>
          <a:solidFill>
            <a:srgbClr val="142748"/>
          </a:solidFill>
          <a:ln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915400" y="320040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29800" y="320040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44200" y="320040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15400" y="1161288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29800" y="1161288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44200" y="1161288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15400" y="2002536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829800" y="2002536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744200" y="2002536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915400" y="2843784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829800" y="2843784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744200" y="2843784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915400" y="3685032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829800" y="3685032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744200" y="3685032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15400" y="4526280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829800" y="4526280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744200" y="4526280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915400" y="5367528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829800" y="5367528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744200" y="5367528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915400" y="6208776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829800" y="6208776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744200" y="6208776"/>
            <a:ext cx="256032" cy="256032"/>
          </a:xfrm>
          <a:prstGeom prst="ellipse">
            <a:avLst/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566928"/>
            <a:ext cx="5303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48CBC4"/>
                </a:solidFill>
                <a:latin typeface="Aptos"/>
              </a:rPr>
              <a:t>DATA ANALYTICS • SQL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1417320"/>
            <a:ext cx="71323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ptos"/>
              </a:rPr>
              <a:t>IMDB Movies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2121408"/>
            <a:ext cx="71323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000" b="0" i="0">
                <a:solidFill>
                  <a:srgbClr val="D2DEEF"/>
                </a:solidFill>
                <a:latin typeface="Aptos"/>
              </a:rPr>
              <a:t>SQL Analysis &amp; Insights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907792"/>
            <a:ext cx="69951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BCCBDF"/>
                </a:solidFill>
                <a:latin typeface="Aptos"/>
              </a:rPr>
              <a:t>A portfolio-ready analysis of movies, directors, popularity, ratings and revenue.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005072"/>
            <a:ext cx="1078992" cy="329184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2" y="4055363"/>
            <a:ext cx="932688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MYSQL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005072"/>
            <a:ext cx="804672" cy="329184"/>
          </a:xfrm>
          <a:prstGeom prst="roundRect">
            <a:avLst>
              <a:gd name="adj" fmla="val 12000"/>
            </a:avLst>
          </a:prstGeom>
          <a:solidFill>
            <a:srgbClr val="142748"/>
          </a:solidFill>
          <a:ln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947672" y="4055363"/>
            <a:ext cx="658368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SQL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88920" y="4005072"/>
            <a:ext cx="1572768" cy="329184"/>
          </a:xfrm>
          <a:prstGeom prst="roundRect">
            <a:avLst>
              <a:gd name="adj" fmla="val 12000"/>
            </a:avLst>
          </a:prstGeom>
          <a:solidFill>
            <a:srgbClr val="142748"/>
          </a:solidFill>
          <a:ln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62072" y="4055363"/>
            <a:ext cx="1426464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DATA 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897880"/>
            <a:ext cx="3840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Prepared by Rajeshwari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5961888"/>
            <a:ext cx="2560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1" i="0">
                <a:solidFill>
                  <a:srgbClr val="48CBC4"/>
                </a:solidFill>
                <a:latin typeface="Aptos"/>
              </a:rPr>
              <a:t>PRSQ-02 • IMDB Movies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A6A6"/>
                </a:solidFill>
                <a:latin typeface="Aptos"/>
              </a:rPr>
              <a:t>01 • 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C1830"/>
                </a:solidFill>
                <a:latin typeface="Aptos"/>
              </a:rPr>
              <a:t>From raw tables to movie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87485"/>
                </a:solidFill>
                <a:latin typeface="Aptos"/>
              </a:rPr>
              <a:t>A structured SQL workflow designed for exploration, ranking and director-level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254203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2453147"/>
            <a:ext cx="402336" cy="402336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02336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2434859"/>
            <a:ext cx="1554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 dirty="0">
                <a:solidFill>
                  <a:srgbClr val="0C1830"/>
                </a:solidFill>
                <a:latin typeface="Aptos"/>
              </a:rPr>
              <a:t>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751851"/>
            <a:ext cx="1572768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 dirty="0">
                <a:solidFill>
                  <a:srgbClr val="687485"/>
                </a:solidFill>
                <a:latin typeface="Aptos"/>
              </a:rPr>
              <a:t>Movies + Directors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82111" y="2670048"/>
            <a:ext cx="246889" cy="0"/>
          </a:xfrm>
          <a:prstGeom prst="line">
            <a:avLst/>
          </a:prstGeom>
          <a:ln w="254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1965960"/>
            <a:ext cx="254203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694176" y="2459736"/>
            <a:ext cx="402336" cy="402336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94176" y="2573887"/>
            <a:ext cx="402336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50" b="1" i="0" dirty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434859"/>
            <a:ext cx="1554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 dirty="0">
                <a:solidFill>
                  <a:srgbClr val="0C1830"/>
                </a:solidFill>
                <a:latin typeface="Aptos"/>
              </a:rPr>
              <a:t>JOIN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7096" y="2724912"/>
            <a:ext cx="1572768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 dirty="0" err="1">
                <a:solidFill>
                  <a:srgbClr val="687485"/>
                </a:solidFill>
                <a:latin typeface="Aptos"/>
              </a:rPr>
              <a:t>director_id</a:t>
            </a:r>
            <a:r>
              <a:rPr sz="1050" b="0" i="0" dirty="0">
                <a:solidFill>
                  <a:srgbClr val="687485"/>
                </a:solidFill>
                <a:latin typeface="Aptos"/>
              </a:rPr>
              <a:t> → id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16752" y="2670048"/>
            <a:ext cx="246888" cy="0"/>
          </a:xfrm>
          <a:prstGeom prst="line">
            <a:avLst/>
          </a:prstGeom>
          <a:ln w="254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9360" y="1965960"/>
            <a:ext cx="254203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92240" y="2453147"/>
            <a:ext cx="402336" cy="402336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83096" y="2564745"/>
            <a:ext cx="402336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2414016"/>
            <a:ext cx="1554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 dirty="0">
                <a:solidFill>
                  <a:srgbClr val="0C1830"/>
                </a:solidFill>
                <a:latin typeface="Aptos"/>
              </a:rPr>
              <a:t>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1106" y="2724912"/>
            <a:ext cx="1572768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 dirty="0">
                <a:solidFill>
                  <a:srgbClr val="687485"/>
                </a:solidFill>
                <a:latin typeface="Aptos"/>
              </a:rPr>
              <a:t>Ranking + filters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51392" y="2670048"/>
            <a:ext cx="246888" cy="0"/>
          </a:xfrm>
          <a:prstGeom prst="line">
            <a:avLst/>
          </a:prstGeom>
          <a:ln w="254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44000" y="1965960"/>
            <a:ext cx="254203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342416" y="2453147"/>
            <a:ext cx="402336" cy="402336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37106" y="2573887"/>
            <a:ext cx="402336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434859"/>
            <a:ext cx="1554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 dirty="0">
                <a:solidFill>
                  <a:srgbClr val="0C1830"/>
                </a:solidFill>
                <a:latin typeface="Aptos"/>
              </a:rPr>
              <a:t>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7232" y="2741625"/>
            <a:ext cx="1572768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 dirty="0">
                <a:solidFill>
                  <a:srgbClr val="687485"/>
                </a:solidFill>
                <a:latin typeface="Aptos"/>
              </a:rPr>
              <a:t>Revenue + quality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822191"/>
            <a:ext cx="10881360" cy="1417320"/>
          </a:xfrm>
          <a:prstGeom prst="roundRect">
            <a:avLst>
              <a:gd name="adj" fmla="val 12000"/>
            </a:avLst>
          </a:prstGeom>
          <a:solidFill>
            <a:srgbClr val="EBF8F7"/>
          </a:solidFill>
          <a:ln>
            <a:solidFill>
              <a:srgbClr val="CA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096512"/>
            <a:ext cx="1371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A6A6"/>
                </a:solidFill>
                <a:latin typeface="Aptos"/>
              </a:rPr>
              <a:t>PROJECT FOCUS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443984"/>
            <a:ext cx="99669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0C1830"/>
                </a:solidFill>
                <a:latin typeface="Aptos"/>
              </a:rPr>
              <a:t>Answer 13 SQL questions across data exploration, director search, movie ranking and revenue analysis.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910328"/>
            <a:ext cx="9966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87485"/>
                </a:solidFill>
                <a:latin typeface="Aptos"/>
              </a:rPr>
              <a:t>Key demonstrated outcome: James Cameron ranks highest by combined movie revenue in the supplied linked data.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28816"/>
            <a:ext cx="3840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87485"/>
                </a:solidFill>
                <a:latin typeface="Aptos"/>
              </a:rPr>
              <a:t>IMDB MOVIES • SQL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492240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87485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A6A6"/>
                </a:solidFill>
                <a:latin typeface="Aptos"/>
              </a:rPr>
              <a:t>02 • DATA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C1830"/>
                </a:solidFill>
                <a:latin typeface="Aptos"/>
              </a:rPr>
              <a:t>Dataset &amp; relational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87485"/>
                </a:solidFill>
                <a:latin typeface="Aptos"/>
              </a:rPr>
              <a:t>The source consists of two tables connected through the director identifier.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489204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6112" y="2121408"/>
            <a:ext cx="960120" cy="329184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2171700"/>
            <a:ext cx="813816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TABLE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87752"/>
            <a:ext cx="32004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0C1830"/>
                </a:solidFill>
                <a:latin typeface="Aptos"/>
              </a:rPr>
              <a:t>directors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63240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687485"/>
                </a:solidFill>
                <a:latin typeface="Aptos"/>
              </a:rPr>
              <a:t>2,349 directors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493008"/>
            <a:ext cx="4023360" cy="11887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40"/>
              </a:spcAft>
              <a:defRPr sz="1300">
                <a:solidFill>
                  <a:srgbClr val="263244"/>
                </a:solidFill>
                <a:latin typeface="Aptos"/>
              </a:defRPr>
            </a:pPr>
            <a:r>
              <a:t>• id — primary key</a:t>
            </a:r>
          </a:p>
          <a:p>
            <a:pPr>
              <a:spcAft>
                <a:spcPts val="140"/>
              </a:spcAft>
              <a:defRPr sz="1300">
                <a:solidFill>
                  <a:srgbClr val="263244"/>
                </a:solidFill>
                <a:latin typeface="Aptos"/>
              </a:defRPr>
            </a:pPr>
            <a:r>
              <a:t>• name, gender, uid</a:t>
            </a:r>
          </a:p>
          <a:p>
            <a:pPr>
              <a:spcAft>
                <a:spcPts val="140"/>
              </a:spcAft>
              <a:defRPr sz="1300">
                <a:solidFill>
                  <a:srgbClr val="263244"/>
                </a:solidFill>
                <a:latin typeface="Aptos"/>
              </a:defRPr>
            </a:pPr>
            <a:r>
              <a:t>• department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56832" y="1874519"/>
            <a:ext cx="489204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12864" y="2121408"/>
            <a:ext cx="960120" cy="329184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86016" y="2171700"/>
            <a:ext cx="813816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TABLE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2864" y="2587752"/>
            <a:ext cx="32004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0C1830"/>
                </a:solidFill>
                <a:latin typeface="Aptos"/>
              </a:rPr>
              <a:t>movies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2864" y="3063240"/>
            <a:ext cx="3200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687485"/>
                </a:solidFill>
                <a:latin typeface="Aptos"/>
              </a:rPr>
              <a:t>Movie-level attributes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2864" y="3493008"/>
            <a:ext cx="4069080" cy="1371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40"/>
              </a:spcAft>
              <a:defRPr sz="1300">
                <a:solidFill>
                  <a:srgbClr val="263244"/>
                </a:solidFill>
                <a:latin typeface="Aptos"/>
              </a:defRPr>
            </a:pPr>
            <a:r>
              <a:t>• id, original_title, title</a:t>
            </a:r>
          </a:p>
          <a:p>
            <a:pPr>
              <a:spcAft>
                <a:spcPts val="140"/>
              </a:spcAft>
              <a:defRPr sz="1300">
                <a:solidFill>
                  <a:srgbClr val="263244"/>
                </a:solidFill>
                <a:latin typeface="Aptos"/>
              </a:defRPr>
            </a:pPr>
            <a:r>
              <a:t>• budget, revenue, popularity</a:t>
            </a:r>
          </a:p>
          <a:p>
            <a:pPr>
              <a:spcAft>
                <a:spcPts val="140"/>
              </a:spcAft>
              <a:defRPr sz="1300">
                <a:solidFill>
                  <a:srgbClr val="263244"/>
                </a:solidFill>
                <a:latin typeface="Aptos"/>
              </a:defRPr>
            </a:pPr>
            <a:r>
              <a:t>• vote_average, vote_count</a:t>
            </a:r>
          </a:p>
          <a:p>
            <a:pPr>
              <a:spcAft>
                <a:spcPts val="140"/>
              </a:spcAft>
              <a:defRPr sz="1300">
                <a:solidFill>
                  <a:srgbClr val="263244"/>
                </a:solidFill>
                <a:latin typeface="Aptos"/>
              </a:defRPr>
            </a:pPr>
            <a:r>
              <a:t>• release_date, director_id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32120" y="3429000"/>
            <a:ext cx="1124712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852160" y="3220065"/>
            <a:ext cx="365760" cy="365760"/>
          </a:xfrm>
          <a:prstGeom prst="ellipse">
            <a:avLst/>
          </a:prstGeom>
          <a:solidFill>
            <a:srgbClr val="142748"/>
          </a:solidFill>
          <a:ln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77840" y="3730752"/>
            <a:ext cx="914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 dirty="0">
                <a:solidFill>
                  <a:srgbClr val="00A6A6"/>
                </a:solidFill>
                <a:latin typeface="Aptos"/>
              </a:rPr>
              <a:t>JOIN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650992"/>
            <a:ext cx="44805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0C1830"/>
                </a:solidFill>
                <a:latin typeface="Aptos"/>
              </a:rPr>
              <a:t>directors.id = movies.director_id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28816"/>
            <a:ext cx="3840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87485"/>
                </a:solidFill>
                <a:latin typeface="Aptos"/>
              </a:rPr>
              <a:t>IMDB MOVIES • SQL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92240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87485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48CBC4"/>
                </a:solidFill>
                <a:latin typeface="Aptos"/>
              </a:rPr>
              <a:t>03 • SQL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Skills demonstrated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8988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C5D2E4"/>
                </a:solidFill>
                <a:latin typeface="Aptos"/>
              </a:rPr>
              <a:t>The analysis moves from simple retrieval to relational aggregation.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063240" cy="1353312"/>
          </a:xfrm>
          <a:prstGeom prst="roundRect">
            <a:avLst>
              <a:gd name="adj" fmla="val 12000"/>
            </a:avLst>
          </a:prstGeom>
          <a:solidFill>
            <a:srgbClr val="142748"/>
          </a:solidFill>
          <a:ln>
            <a:solidFill>
              <a:srgbClr val="2C4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2194560"/>
            <a:ext cx="2606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SELECT /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624328"/>
            <a:ext cx="26060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BECDE2"/>
                </a:solidFill>
                <a:latin typeface="Aptos"/>
              </a:rPr>
              <a:t>Retrieve and inspect source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965960"/>
            <a:ext cx="3063240" cy="1353312"/>
          </a:xfrm>
          <a:prstGeom prst="roundRect">
            <a:avLst>
              <a:gd name="adj" fmla="val 12000"/>
            </a:avLst>
          </a:prstGeom>
          <a:solidFill>
            <a:srgbClr val="142748"/>
          </a:solidFill>
          <a:ln>
            <a:solidFill>
              <a:srgbClr val="2C4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70248" y="2194560"/>
            <a:ext cx="2606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WHERE / LIKE /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624328"/>
            <a:ext cx="26060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BECDE2"/>
                </a:solidFill>
                <a:latin typeface="Aptos"/>
              </a:rPr>
              <a:t>Filter by names and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965960"/>
            <a:ext cx="3063240" cy="1353312"/>
          </a:xfrm>
          <a:prstGeom prst="roundRect">
            <a:avLst>
              <a:gd name="adj" fmla="val 12000"/>
            </a:avLst>
          </a:prstGeom>
          <a:solidFill>
            <a:srgbClr val="142748"/>
          </a:solidFill>
          <a:ln>
            <a:solidFill>
              <a:srgbClr val="2C4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99248" y="2194560"/>
            <a:ext cx="2606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ORDER BY / LIMIT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624328"/>
            <a:ext cx="26060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BECDE2"/>
                </a:solidFill>
                <a:latin typeface="Aptos"/>
              </a:rPr>
              <a:t>Create ranked top-N 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3063240" cy="1353312"/>
          </a:xfrm>
          <a:prstGeom prst="roundRect">
            <a:avLst>
              <a:gd name="adj" fmla="val 12000"/>
            </a:avLst>
          </a:prstGeom>
          <a:solidFill>
            <a:srgbClr val="142748"/>
          </a:solidFill>
          <a:ln>
            <a:solidFill>
              <a:srgbClr val="2C4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4069080"/>
            <a:ext cx="2606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COUNT / SUM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498848"/>
            <a:ext cx="26060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BECDE2"/>
                </a:solidFill>
                <a:latin typeface="Aptos"/>
              </a:rPr>
              <a:t>Measure directors and revenue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3840480"/>
            <a:ext cx="3063240" cy="1353312"/>
          </a:xfrm>
          <a:prstGeom prst="roundRect">
            <a:avLst>
              <a:gd name="adj" fmla="val 12000"/>
            </a:avLst>
          </a:prstGeom>
          <a:solidFill>
            <a:srgbClr val="142748"/>
          </a:solidFill>
          <a:ln>
            <a:solidFill>
              <a:srgbClr val="2C4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70248" y="4069080"/>
            <a:ext cx="2606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JOIN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4498848"/>
            <a:ext cx="26060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BECDE2"/>
                </a:solidFill>
                <a:latin typeface="Aptos"/>
              </a:rPr>
              <a:t>Connect directors to movies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3840480"/>
            <a:ext cx="3063240" cy="1353312"/>
          </a:xfrm>
          <a:prstGeom prst="roundRect">
            <a:avLst>
              <a:gd name="adj" fmla="val 12000"/>
            </a:avLst>
          </a:prstGeom>
          <a:solidFill>
            <a:srgbClr val="142748"/>
          </a:solidFill>
          <a:ln>
            <a:solidFill>
              <a:srgbClr val="2C4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99248" y="4069080"/>
            <a:ext cx="2606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GROUP BY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4498848"/>
            <a:ext cx="26060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BECDE2"/>
                </a:solidFill>
                <a:latin typeface="Aptos"/>
              </a:rPr>
              <a:t>Build director-level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28816"/>
            <a:ext cx="3840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87485"/>
                </a:solidFill>
                <a:latin typeface="Aptos"/>
              </a:rPr>
              <a:t>IMDB MOVIES • SQL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92240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87485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A6A6"/>
                </a:solidFill>
                <a:latin typeface="Aptos"/>
              </a:rPr>
              <a:t>04 • ANALYSIS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C1830"/>
                </a:solidFill>
                <a:latin typeface="Aptos"/>
              </a:rPr>
              <a:t>13 questions, 4 analytical themes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87485"/>
                </a:solidFill>
                <a:latin typeface="Aptos"/>
              </a:rPr>
              <a:t>The SQL work is organized around a clear progression from exploration to insight.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21208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2221991"/>
            <a:ext cx="457200" cy="45720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322576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203704"/>
            <a:ext cx="39776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1830"/>
                </a:solidFill>
                <a:latin typeface="Aptos"/>
              </a:rPr>
              <a:t>DATA EXPLORATION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651760"/>
            <a:ext cx="3977639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687485"/>
                </a:solidFill>
                <a:latin typeface="Aptos"/>
              </a:rPr>
              <a:t>View movie records • View director records • Count movies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21208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46520" y="2221991"/>
            <a:ext cx="457200" cy="45720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2322576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203704"/>
            <a:ext cx="39776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1830"/>
                </a:solidFill>
                <a:latin typeface="Aptos"/>
              </a:rPr>
              <a:t>DIRECTOR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651760"/>
            <a:ext cx="3977639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687485"/>
                </a:solidFill>
                <a:latin typeface="Aptos"/>
              </a:rPr>
              <a:t>Specific directors • Names starting with S • Female-director count • 10th female director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14800"/>
            <a:ext cx="521208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80" y="4370832"/>
            <a:ext cx="457200" cy="45720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471416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352544"/>
            <a:ext cx="39776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1830"/>
                </a:solidFill>
                <a:latin typeface="Aptos"/>
              </a:rPr>
              <a:t>MOVIE RANKING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800600"/>
            <a:ext cx="3977639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687485"/>
                </a:solidFill>
                <a:latin typeface="Aptos"/>
              </a:rPr>
              <a:t>Top 3 by popularity • Top 3 by revenue • Highest-rated post-2000 movie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114800"/>
            <a:ext cx="521208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46520" y="4370832"/>
            <a:ext cx="457200" cy="45720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4471416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352544"/>
            <a:ext cx="39776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1830"/>
                </a:solidFill>
                <a:latin typeface="Aptos"/>
              </a:rPr>
              <a:t>DIRECTOR 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800600"/>
            <a:ext cx="3977639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687485"/>
                </a:solidFill>
                <a:latin typeface="Aptos"/>
              </a:rPr>
              <a:t>Brenda Chapman linkage • Most prolific director • Highest total 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28816"/>
            <a:ext cx="3840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87485"/>
                </a:solidFill>
                <a:latin typeface="Aptos"/>
              </a:rPr>
              <a:t>IMDB MOVIES • SQL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92240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87485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A6A6"/>
                </a:solidFill>
                <a:latin typeface="Aptos"/>
              </a:rPr>
              <a:t>05 • RANKING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C1830"/>
                </a:solidFill>
                <a:latin typeface="Aptos"/>
              </a:rPr>
              <a:t>How the top-N questions are answered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87485"/>
                </a:solidFill>
                <a:latin typeface="Aptos"/>
              </a:rPr>
              <a:t>Ranking is intentionally separated from interpretation so the SQL logic stays auditable.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16636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139696"/>
            <a:ext cx="25603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0A6A6"/>
                </a:solidFill>
                <a:latin typeface="Aptos"/>
              </a:rPr>
              <a:t>POPULARITY • TOP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2606040"/>
            <a:ext cx="4617720" cy="1600200"/>
          </a:xfrm>
          <a:prstGeom prst="roundRect">
            <a:avLst>
              <a:gd name="adj" fmla="val 12000"/>
            </a:avLst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6112" y="2606040"/>
            <a:ext cx="4617720" cy="64008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704" y="2752344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48CBC4"/>
                </a:solidFill>
                <a:latin typeface="Aptos"/>
              </a:rPr>
              <a:t>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044952"/>
            <a:ext cx="4288536" cy="1051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onsolas"/>
              </a:rPr>
              <a:t>SELECT original_title, popularity
FROM movies
ORDER BY popularity DESC
LIMIT 3;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498848"/>
            <a:ext cx="12801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C1830"/>
                </a:solidFill>
                <a:latin typeface="Aptos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782312"/>
            <a:ext cx="4389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87485"/>
                </a:solidFill>
                <a:latin typeface="Aptos"/>
              </a:rPr>
              <a:t>Higher popularity score → higher rank in the output.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874519"/>
            <a:ext cx="544068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2139696"/>
            <a:ext cx="25603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0A6A6"/>
                </a:solidFill>
                <a:latin typeface="Aptos"/>
              </a:rPr>
              <a:t>REVENUE • TOP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4224" y="2606040"/>
            <a:ext cx="4892040" cy="1783080"/>
          </a:xfrm>
          <a:prstGeom prst="roundRect">
            <a:avLst>
              <a:gd name="adj" fmla="val 12000"/>
            </a:avLst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64224" y="2606040"/>
            <a:ext cx="4892040" cy="64008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28816" y="2752344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48CBC4"/>
                </a:solidFill>
                <a:latin typeface="Aptos"/>
              </a:rPr>
              <a:t>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044952"/>
            <a:ext cx="4562855" cy="12344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FFFFFF"/>
                </a:solidFill>
                <a:latin typeface="Consolas"/>
              </a:rPr>
              <a:t>SELECT original_title, revenue
FROM movies
WHERE revenue IS NOT NULL
ORDER BY revenue DESC
LIMIT 3;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4645152"/>
            <a:ext cx="12801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C1830"/>
                </a:solidFill>
                <a:latin typeface="Aptos"/>
              </a:rPr>
              <a:t>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4919472"/>
            <a:ext cx="46177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87485"/>
                </a:solidFill>
                <a:latin typeface="Aptos"/>
              </a:rPr>
              <a:t>Highest revenue values are used as the working definition of “bankable.”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28816"/>
            <a:ext cx="3840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87485"/>
                </a:solidFill>
                <a:latin typeface="Aptos"/>
              </a:rPr>
              <a:t>IMDB MOVIES • SQL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92240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87485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A6A6"/>
                </a:solidFill>
                <a:latin typeface="Aptos"/>
              </a:rPr>
              <a:t>06 • RATING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C1830"/>
                </a:solidFill>
                <a:latin typeface="Aptos"/>
              </a:rPr>
              <a:t>Finding the highest-rated movie after 2000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87485"/>
                </a:solidFill>
                <a:latin typeface="Aptos"/>
              </a:rPr>
              <a:t>The question combines a date filter with a descending rating sort.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6629400" cy="3611880"/>
          </a:xfrm>
          <a:prstGeom prst="roundRect">
            <a:avLst>
              <a:gd name="adj" fmla="val 12000"/>
            </a:avLst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6112" y="2176272"/>
            <a:ext cx="6126480" cy="2011680"/>
          </a:xfrm>
          <a:prstGeom prst="roundRect">
            <a:avLst>
              <a:gd name="adj" fmla="val 12000"/>
            </a:avLst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" y="2176272"/>
            <a:ext cx="6126480" cy="64008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48CBC4"/>
                </a:solidFill>
                <a:latin typeface="Aptos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615184"/>
            <a:ext cx="5797296" cy="146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70">
                <a:solidFill>
                  <a:srgbClr val="FFFFFF"/>
                </a:solidFill>
                <a:latin typeface="Consolas"/>
              </a:rPr>
              <a:t>SELECT original_title, release_date, vote_average
FROM movies
WHERE release_date &gt;= '2000-01-01'
ORDER BY vote_average DESC
LIMIT 1;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526280"/>
            <a:ext cx="16459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48CBC4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846320"/>
            <a:ext cx="59893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Shows how SQL can combine a business rule (release period) with an analytical ranking (rating).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874519"/>
            <a:ext cx="4005072" cy="3611880"/>
          </a:xfrm>
          <a:prstGeom prst="roundRect">
            <a:avLst>
              <a:gd name="adj" fmla="val 12000"/>
            </a:avLst>
          </a:prstGeom>
          <a:solidFill>
            <a:srgbClr val="FFFAED"/>
          </a:solidFill>
          <a:ln>
            <a:solidFill>
              <a:srgbClr val="F2E1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8120" y="2176272"/>
            <a:ext cx="25603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A8531"/>
                </a:solidFill>
                <a:latin typeface="Aptos"/>
              </a:rPr>
              <a:t>DATA QUALITY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633472"/>
            <a:ext cx="32461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C1830"/>
                </a:solidFill>
                <a:latin typeface="Aptos"/>
              </a:rPr>
              <a:t>release_date is stored as TEXT in the supplied schema.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429000"/>
            <a:ext cx="306324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87485"/>
                </a:solidFill>
                <a:latin typeface="Aptos"/>
              </a:rPr>
              <a:t>Before production use, validate the stored date format and convert it to a proper DATE type where appropriate.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4828032"/>
            <a:ext cx="2606040" cy="329184"/>
          </a:xfrm>
          <a:prstGeom prst="roundRect">
            <a:avLst>
              <a:gd name="adj" fmla="val 12000"/>
            </a:avLst>
          </a:prstGeom>
          <a:solidFill>
            <a:srgbClr val="EA8531"/>
          </a:solidFill>
          <a:ln>
            <a:solidFill>
              <a:srgbClr val="EA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91272" y="4878324"/>
            <a:ext cx="2459736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VALIDATE BEFORE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28816"/>
            <a:ext cx="3840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87485"/>
                </a:solidFill>
                <a:latin typeface="Aptos"/>
              </a:rPr>
              <a:t>IMDB MOVIES • SQL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87485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A6A6"/>
                </a:solidFill>
                <a:latin typeface="Aptos"/>
              </a:rPr>
              <a:t>07 • RELATIONAL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C1830"/>
                </a:solidFill>
                <a:latin typeface="Aptos"/>
              </a:rPr>
              <a:t>Director → movie linkage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87485"/>
                </a:solidFill>
                <a:latin typeface="Aptos"/>
              </a:rPr>
              <a:t>JOIN analysis tests whether a director record is actually represented in the movie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283464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267712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C1830"/>
                </a:solidFill>
                <a:latin typeface="Aptos"/>
              </a:rPr>
              <a:t>directors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788920"/>
            <a:ext cx="1920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63244"/>
                </a:solidFill>
                <a:latin typeface="Aptos"/>
              </a:rPr>
              <a:t>Brenda Chapman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3246120"/>
            <a:ext cx="1051560" cy="329184"/>
          </a:xfrm>
          <a:prstGeom prst="roundRect">
            <a:avLst>
              <a:gd name="adj" fmla="val 12000"/>
            </a:avLst>
          </a:prstGeom>
          <a:solidFill>
            <a:srgbClr val="142748"/>
          </a:solidFill>
          <a:ln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3296412"/>
            <a:ext cx="905255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id = 4801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749039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87485"/>
                </a:solidFill>
                <a:latin typeface="Aptos"/>
              </a:rPr>
              <a:t>female director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93008" y="3246120"/>
            <a:ext cx="1216152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703320" y="2880360"/>
            <a:ext cx="822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00A6A6"/>
                </a:solidFill>
                <a:latin typeface="Aptos"/>
              </a:rPr>
              <a:t>JOIN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965960"/>
            <a:ext cx="283464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56632" y="2267712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C1830"/>
                </a:solidFill>
                <a:latin typeface="Aptos"/>
              </a:rPr>
              <a:t>movies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816352"/>
            <a:ext cx="21488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63244"/>
                </a:solidFill>
                <a:latin typeface="Aptos"/>
              </a:rPr>
              <a:t>director_id = 4801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56632" y="3246120"/>
            <a:ext cx="1051560" cy="329184"/>
          </a:xfrm>
          <a:prstGeom prst="roundRect">
            <a:avLst>
              <a:gd name="adj" fmla="val 12000"/>
            </a:avLst>
          </a:prstGeom>
          <a:solidFill>
            <a:srgbClr val="C44040"/>
          </a:solidFill>
          <a:ln>
            <a:solidFill>
              <a:srgbClr val="C4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9784" y="3296412"/>
            <a:ext cx="905255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0 matches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3749039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87485"/>
                </a:solidFill>
                <a:latin typeface="Aptos"/>
              </a:rPr>
              <a:t>no linked movie found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965960"/>
            <a:ext cx="3502152" cy="2560320"/>
          </a:xfrm>
          <a:prstGeom prst="roundRect">
            <a:avLst>
              <a:gd name="adj" fmla="val 12000"/>
            </a:avLst>
          </a:prstGeom>
          <a:solidFill>
            <a:srgbClr val="F8FAFD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2267712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A6A6"/>
                </a:solidFill>
                <a:latin typeface="Aptos"/>
              </a:rPr>
              <a:t>DATA OBSERVATION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761488"/>
            <a:ext cx="288036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C1830"/>
                </a:solidFill>
                <a:latin typeface="Aptos"/>
              </a:rPr>
              <a:t>Brenda Chapman exists in directors, but no movie row references director_id = 4801.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1"/>
            <a:ext cx="2880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87485"/>
                </a:solidFill>
                <a:latin typeface="Aptos"/>
              </a:rPr>
              <a:t>This is a source-data linkage issue, not a reason to invent a result.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28816"/>
            <a:ext cx="3840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87485"/>
                </a:solidFill>
                <a:latin typeface="Aptos"/>
              </a:rPr>
              <a:t>IMDB MOVIES • SQL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92240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87485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48CBC4"/>
                </a:solidFill>
                <a:latin typeface="Aptos"/>
              </a:rPr>
              <a:t>08 • KEY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Highest total revenue by director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8988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C5D2E4"/>
                </a:solidFill>
                <a:latin typeface="Aptos"/>
              </a:rPr>
              <a:t>Revenue is aggregated across linked movies to identify the most bankable director.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6812280" cy="3337560"/>
          </a:xfrm>
          <a:prstGeom prst="roundRect">
            <a:avLst>
              <a:gd name="adj" fmla="val 12000"/>
            </a:avLst>
          </a:prstGeom>
          <a:solidFill>
            <a:srgbClr val="142748"/>
          </a:solidFill>
          <a:ln>
            <a:solidFill>
              <a:srgbClr val="2B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2331720"/>
            <a:ext cx="3840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8CBC4"/>
                </a:solidFill>
                <a:latin typeface="Aptos"/>
              </a:rPr>
              <a:t>MOST BANKABLE DIRECTOR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788920"/>
            <a:ext cx="49377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ptos"/>
              </a:rPr>
              <a:t>James Cameron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547872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BECDE2"/>
                </a:solidFill>
                <a:latin typeface="Aptos"/>
              </a:rPr>
              <a:t>Total linked movie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931920"/>
            <a:ext cx="438912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600" b="1" i="0">
                <a:solidFill>
                  <a:srgbClr val="48CBC4"/>
                </a:solidFill>
                <a:latin typeface="Aptos"/>
              </a:rPr>
              <a:t>$4.633B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690872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BECDE2"/>
                </a:solidFill>
                <a:latin typeface="Aptos"/>
              </a:rPr>
              <a:t>Exact total: 4,632,999,275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54112" y="1965960"/>
            <a:ext cx="379476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0" y="2304288"/>
            <a:ext cx="2286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A6A6"/>
                </a:solidFill>
                <a:latin typeface="Aptos"/>
              </a:rPr>
              <a:t>ANALYTICAL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2788920"/>
            <a:ext cx="3246120" cy="1965960"/>
          </a:xfrm>
          <a:prstGeom prst="roundRect">
            <a:avLst>
              <a:gd name="adj" fmla="val 12000"/>
            </a:avLst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28431" y="2788920"/>
            <a:ext cx="3246120" cy="64008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3023" y="2935224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48CBC4"/>
                </a:solidFill>
                <a:latin typeface="Aptos"/>
              </a:rPr>
              <a:t>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3" y="3227832"/>
            <a:ext cx="2916936" cy="14173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69">
                <a:solidFill>
                  <a:srgbClr val="FFFFFF"/>
                </a:solidFill>
                <a:latin typeface="Consolas"/>
              </a:rPr>
              <a:t>SELECT d.name,
       SUM(m.revenue) AS total_revenue
FROM directors d
JOIN movies m
  ON d.id = m.director_id
GROUP BY d.id, d.name
ORDER BY total_revenue DESC
LIMIT 1;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28816"/>
            <a:ext cx="3840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87485"/>
                </a:solidFill>
                <a:latin typeface="Aptos"/>
              </a:rPr>
              <a:t>IMDB MOVIES • SQL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87485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A6A6"/>
                </a:solidFill>
                <a:latin typeface="Aptos"/>
              </a:rPr>
              <a:t>09 •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C1830"/>
                </a:solidFill>
                <a:latin typeface="Aptos"/>
              </a:rPr>
              <a:t>What the source data tells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87485"/>
                </a:solidFill>
                <a:latin typeface="Aptos"/>
              </a:rPr>
              <a:t>A professional analysis should report limitations alongside results.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2002536"/>
            <a:ext cx="347472" cy="347472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2093976"/>
            <a:ext cx="347472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901951"/>
            <a:ext cx="21488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1830"/>
                </a:solidFill>
                <a:latin typeface="Aptos"/>
              </a:rPr>
              <a:t>Director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901951"/>
            <a:ext cx="74066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87485"/>
                </a:solidFill>
                <a:latin typeface="Aptos"/>
              </a:rPr>
              <a:t>Only 36 distinct director_id values are referenced by the supplied movies table.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1872" y="2569463"/>
            <a:ext cx="9756648" cy="0"/>
          </a:xfrm>
          <a:prstGeom prst="line">
            <a:avLst/>
          </a:prstGeom>
          <a:ln w="12700">
            <a:solidFill>
              <a:srgbClr val="E1E8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13232" y="3054096"/>
            <a:ext cx="347472" cy="347472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3145535"/>
            <a:ext cx="347472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953511"/>
            <a:ext cx="21488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1830"/>
                </a:solidFill>
                <a:latin typeface="Aptos"/>
              </a:rPr>
              <a:t>Brenda Chapman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53511"/>
            <a:ext cx="74066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87485"/>
                </a:solidFill>
                <a:latin typeface="Aptos"/>
              </a:rPr>
              <a:t>Director exists (id 4801), but there are 0 matching movie rows.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61872" y="3621024"/>
            <a:ext cx="9756648" cy="0"/>
          </a:xfrm>
          <a:prstGeom prst="line">
            <a:avLst/>
          </a:prstGeom>
          <a:ln w="12700">
            <a:solidFill>
              <a:srgbClr val="E1E8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13232" y="4105655"/>
            <a:ext cx="347472" cy="347472"/>
          </a:xfrm>
          <a:prstGeom prst="ellipse">
            <a:avLst/>
          </a:prstGeom>
          <a:solidFill>
            <a:srgbClr val="142748"/>
          </a:solidFill>
          <a:ln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4197096"/>
            <a:ext cx="347472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005072"/>
            <a:ext cx="21488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1830"/>
                </a:solidFill>
                <a:latin typeface="Aptos"/>
              </a:rPr>
              <a:t>Date field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005072"/>
            <a:ext cx="74066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87485"/>
                </a:solidFill>
                <a:latin typeface="Aptos"/>
              </a:rPr>
              <a:t>release_date is TEXT; date-format validation is recommended before production reporting.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61872" y="4672583"/>
            <a:ext cx="9756648" cy="0"/>
          </a:xfrm>
          <a:prstGeom prst="line">
            <a:avLst/>
          </a:prstGeom>
          <a:ln w="12700">
            <a:solidFill>
              <a:srgbClr val="E1E8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13232" y="5157216"/>
            <a:ext cx="347472" cy="347472"/>
          </a:xfrm>
          <a:prstGeom prst="ellipse">
            <a:avLst/>
          </a:prstGeom>
          <a:solidFill>
            <a:srgbClr val="142748"/>
          </a:solidFill>
          <a:ln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5248656"/>
            <a:ext cx="347472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5056632"/>
            <a:ext cx="21488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1830"/>
                </a:solidFill>
                <a:latin typeface="Aptos"/>
              </a:rPr>
              <a:t>Source preservation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5056632"/>
            <a:ext cx="74066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87485"/>
                </a:solidFill>
                <a:latin typeface="Aptos"/>
              </a:rPr>
              <a:t>The analysis uses JOINs rather than altering the supplied source tables.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61872" y="5724144"/>
            <a:ext cx="9756648" cy="0"/>
          </a:xfrm>
          <a:prstGeom prst="line">
            <a:avLst/>
          </a:prstGeom>
          <a:ln w="12700">
            <a:solidFill>
              <a:srgbClr val="E1E8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6528816"/>
            <a:ext cx="3840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87485"/>
                </a:solidFill>
                <a:latin typeface="Aptos"/>
              </a:rPr>
              <a:t>IMDB MOVIES • SQL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92240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8748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A6A6"/>
                </a:solidFill>
                <a:latin typeface="Aptos"/>
              </a:rPr>
              <a:t>10 •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C1830"/>
                </a:solidFill>
                <a:latin typeface="Aptos"/>
              </a:rPr>
              <a:t>One query → one decision-ready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87485"/>
                </a:solidFill>
                <a:latin typeface="Aptos"/>
              </a:rPr>
              <a:t>The director revenue query converts row-level movie data into a portfolio-level performance indicator.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6400800" cy="2971800"/>
          </a:xfrm>
          <a:prstGeom prst="roundRect">
            <a:avLst>
              <a:gd name="adj" fmla="val 12000"/>
            </a:avLst>
          </a:prstGeom>
          <a:solidFill>
            <a:srgbClr val="0C1830"/>
          </a:solidFill>
          <a:ln>
            <a:solidFill>
              <a:srgbClr val="0C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6400800" cy="64008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020824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48CBC4"/>
                </a:solidFill>
                <a:latin typeface="Aptos"/>
              </a:rPr>
              <a:t>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13432"/>
            <a:ext cx="6071616" cy="2423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60">
                <a:solidFill>
                  <a:srgbClr val="FFFFFF"/>
                </a:solidFill>
                <a:latin typeface="Consolas"/>
              </a:rPr>
              <a:t>SELECT d.name, SUM(m.revenue) AS total_revenue
FROM directors d
JOIN movies m
    ON d.id = m.director_id
GROUP BY d.id, d.name
ORDER BY total_revenue DESC
LIMIT 1;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33488" y="1874519"/>
            <a:ext cx="420624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6096" y="2167128"/>
            <a:ext cx="914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A6A6"/>
                </a:solidFill>
                <a:latin typeface="Aptos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6096" y="2697480"/>
            <a:ext cx="33832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0C1830"/>
                </a:solidFill>
                <a:latin typeface="Aptos"/>
              </a:rPr>
              <a:t>James Cameron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6096" y="3273552"/>
            <a:ext cx="32004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0C1830"/>
                </a:solidFill>
                <a:latin typeface="Aptos"/>
              </a:rPr>
              <a:t>4,632,999,275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6096" y="3886200"/>
            <a:ext cx="33375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87485"/>
                </a:solidFill>
                <a:latin typeface="Aptos"/>
              </a:rPr>
              <a:t>combined revenue across linked movies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6096" y="4434840"/>
            <a:ext cx="1097280" cy="329184"/>
          </a:xfrm>
          <a:prstGeom prst="roundRect">
            <a:avLst>
              <a:gd name="adj" fmla="val 12000"/>
            </a:avLst>
          </a:prstGeom>
          <a:solidFill>
            <a:srgbClr val="142748"/>
          </a:solidFill>
          <a:ln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99248" y="4485131"/>
            <a:ext cx="950976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RANK  #1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28816"/>
            <a:ext cx="3840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87485"/>
                </a:solidFill>
                <a:latin typeface="Aptos"/>
              </a:rPr>
              <a:t>IMDB MOVIES • SQL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92240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8748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0A6A6"/>
                </a:solidFill>
                <a:latin typeface="Aptos"/>
              </a:rPr>
              <a:t>11 •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C1830"/>
                </a:solidFill>
                <a:latin typeface="Aptos"/>
              </a:rPr>
              <a:t>What this project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87485"/>
                </a:solidFill>
                <a:latin typeface="Aptos"/>
              </a:rPr>
              <a:t>The strongest portfolio signal is not just the SQL syntax—it is the reasoning around the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38528"/>
            <a:ext cx="2542032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59536" y="2212848"/>
            <a:ext cx="475488" cy="475488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2340864"/>
            <a:ext cx="47548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907792"/>
            <a:ext cx="20574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C1830"/>
                </a:solidFill>
                <a:latin typeface="Aptos"/>
              </a:rPr>
              <a:t>Structured thinking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84448"/>
            <a:ext cx="205740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87485"/>
                </a:solidFill>
                <a:latin typeface="Aptos"/>
              </a:rPr>
              <a:t>Break a broad movie dataset into focused analytical questions.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938528"/>
            <a:ext cx="2542032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75888" y="2212848"/>
            <a:ext cx="475488" cy="475488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75888" y="2340864"/>
            <a:ext cx="47548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2907792"/>
            <a:ext cx="20574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C1830"/>
                </a:solidFill>
                <a:latin typeface="Aptos"/>
              </a:rPr>
              <a:t>Relational reasoning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3584448"/>
            <a:ext cx="205740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87485"/>
                </a:solidFill>
                <a:latin typeface="Aptos"/>
              </a:rPr>
              <a:t>Use JOIN + GROUP BY to move from movie rows to director-level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1938528"/>
            <a:ext cx="2542032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92240" y="2212848"/>
            <a:ext cx="475488" cy="475488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340864"/>
            <a:ext cx="47548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07792"/>
            <a:ext cx="20574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C1830"/>
                </a:solidFill>
                <a:latin typeface="Aptos"/>
              </a:rPr>
              <a:t>Ranking skills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84448"/>
            <a:ext cx="205740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87485"/>
                </a:solidFill>
                <a:latin typeface="Aptos"/>
              </a:rPr>
              <a:t>Use ORDER BY + LIMIT for popularity, revenue and rating questions.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9136" y="1938528"/>
            <a:ext cx="2542032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308592" y="2212848"/>
            <a:ext cx="475488" cy="475488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08592" y="2340864"/>
            <a:ext cx="47548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2907792"/>
            <a:ext cx="20574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C1830"/>
                </a:solidFill>
                <a:latin typeface="Aptos"/>
              </a:rPr>
              <a:t>Data awareness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3584448"/>
            <a:ext cx="205740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87485"/>
                </a:solidFill>
                <a:latin typeface="Aptos"/>
              </a:rPr>
              <a:t>Surface missing relationships and schema issues instead of hiding them.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28816"/>
            <a:ext cx="3840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87485"/>
                </a:solidFill>
                <a:latin typeface="Aptos"/>
              </a:rPr>
              <a:t>IMDB MOVIES • SQL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92240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8748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48CBC4"/>
                </a:solidFill>
                <a:latin typeface="Aptos"/>
              </a:rPr>
              <a:t>12 • PORTFOLIO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881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Skills you can present in an interview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89888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C5D2E4"/>
                </a:solidFill>
                <a:latin typeface="Aptos"/>
              </a:rPr>
              <a:t>A concise story for a Junior Data Analyst portfolio.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10835640" cy="713232"/>
          </a:xfrm>
          <a:prstGeom prst="roundRect">
            <a:avLst>
              <a:gd name="adj" fmla="val 12000"/>
            </a:avLst>
          </a:prstGeom>
          <a:solidFill>
            <a:srgbClr val="142748"/>
          </a:solidFill>
          <a:ln>
            <a:solidFill>
              <a:srgbClr val="2B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057400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48CBC4"/>
                </a:solidFill>
                <a:latin typeface="Aptos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2048255"/>
            <a:ext cx="81381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ptos"/>
              </a:rPr>
              <a:t>SELECT • WHERE • LIKE • IN • ORDER BY • LIMIT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807208"/>
            <a:ext cx="10835640" cy="713232"/>
          </a:xfrm>
          <a:prstGeom prst="roundRect">
            <a:avLst>
              <a:gd name="adj" fmla="val 12000"/>
            </a:avLst>
          </a:prstGeom>
          <a:solidFill>
            <a:srgbClr val="142748"/>
          </a:solidFill>
          <a:ln>
            <a:solidFill>
              <a:srgbClr val="2B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990088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48CBC4"/>
                </a:solidFill>
                <a:latin typeface="Aptos"/>
              </a:rPr>
              <a:t>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980944"/>
            <a:ext cx="81381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ptos"/>
              </a:rPr>
              <a:t>COUNT • SUM • GROUP BY • ranking logic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39896"/>
            <a:ext cx="10835640" cy="713232"/>
          </a:xfrm>
          <a:prstGeom prst="roundRect">
            <a:avLst>
              <a:gd name="adj" fmla="val 12000"/>
            </a:avLst>
          </a:prstGeom>
          <a:solidFill>
            <a:srgbClr val="142748"/>
          </a:solidFill>
          <a:ln>
            <a:solidFill>
              <a:srgbClr val="2B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922776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48CBC4"/>
                </a:solidFill>
                <a:latin typeface="Aptos"/>
              </a:rPr>
              <a:t>Relational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913632"/>
            <a:ext cx="81381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ptos"/>
              </a:rPr>
              <a:t>INNER JOIN • primary/foreign-key reasoning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72583"/>
            <a:ext cx="10835640" cy="713232"/>
          </a:xfrm>
          <a:prstGeom prst="roundRect">
            <a:avLst>
              <a:gd name="adj" fmla="val 12000"/>
            </a:avLst>
          </a:prstGeom>
          <a:solidFill>
            <a:srgbClr val="142748"/>
          </a:solidFill>
          <a:ln>
            <a:solidFill>
              <a:srgbClr val="2B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4855464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48CBC4"/>
                </a:solidFill>
                <a:latin typeface="Aptos"/>
              </a:rPr>
              <a:t>Data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4846320"/>
            <a:ext cx="81381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ptos"/>
              </a:rPr>
              <a:t>Missing links • type validation • source preservation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760720"/>
            <a:ext cx="16459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48CBC4"/>
                </a:solidFill>
                <a:latin typeface="Aptos"/>
              </a:rPr>
              <a:t>PORTFOLIO 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108192"/>
            <a:ext cx="8046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Database → SQL → Analysis → Data-quality checks → Business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28816"/>
            <a:ext cx="3840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87485"/>
                </a:solidFill>
                <a:latin typeface="Aptos"/>
              </a:rPr>
              <a:t>IMDB MOVIES • SQL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92240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8748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" y="5989320"/>
            <a:ext cx="146304" cy="146304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029967" y="5989320"/>
            <a:ext cx="146304" cy="146304"/>
          </a:xfrm>
          <a:prstGeom prst="ellipse">
            <a:avLst/>
          </a:prstGeom>
          <a:solidFill>
            <a:srgbClr val="142748"/>
          </a:solidFill>
          <a:ln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145536" y="5989320"/>
            <a:ext cx="146304" cy="146304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261104" y="5989320"/>
            <a:ext cx="146304" cy="146304"/>
          </a:xfrm>
          <a:prstGeom prst="ellipse">
            <a:avLst/>
          </a:prstGeom>
          <a:solidFill>
            <a:srgbClr val="142748"/>
          </a:solidFill>
          <a:ln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376672" y="5989320"/>
            <a:ext cx="146304" cy="146304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92240" y="5989320"/>
            <a:ext cx="146304" cy="146304"/>
          </a:xfrm>
          <a:prstGeom prst="ellipse">
            <a:avLst/>
          </a:prstGeom>
          <a:solidFill>
            <a:srgbClr val="142748"/>
          </a:solidFill>
          <a:ln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607808" y="5989320"/>
            <a:ext cx="146304" cy="146304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23376" y="5989320"/>
            <a:ext cx="146304" cy="146304"/>
          </a:xfrm>
          <a:prstGeom prst="ellipse">
            <a:avLst/>
          </a:prstGeom>
          <a:solidFill>
            <a:srgbClr val="142748"/>
          </a:solidFill>
          <a:ln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838944" y="5989320"/>
            <a:ext cx="146304" cy="146304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54512" y="5989320"/>
            <a:ext cx="146304" cy="146304"/>
          </a:xfrm>
          <a:prstGeom prst="ellipse">
            <a:avLst/>
          </a:prstGeom>
          <a:solidFill>
            <a:srgbClr val="142748"/>
          </a:solidFill>
          <a:ln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057400"/>
            <a:ext cx="640080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80360"/>
            <a:ext cx="5943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D2DEEF"/>
                </a:solidFill>
                <a:latin typeface="Aptos"/>
              </a:rPr>
              <a:t>IMDB Movies SQL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56432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48CBC4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51960"/>
            <a:ext cx="1078992" cy="329184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4302252"/>
            <a:ext cx="932688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MYSQL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4251960"/>
            <a:ext cx="804672" cy="329184"/>
          </a:xfrm>
          <a:prstGeom prst="roundRect">
            <a:avLst>
              <a:gd name="adj" fmla="val 12000"/>
            </a:avLst>
          </a:prstGeom>
          <a:solidFill>
            <a:srgbClr val="142748"/>
          </a:solidFill>
          <a:ln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47672" y="4302252"/>
            <a:ext cx="658368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4251960"/>
            <a:ext cx="1572768" cy="329184"/>
          </a:xfrm>
          <a:prstGeom prst="roundRect">
            <a:avLst>
              <a:gd name="adj" fmla="val 12000"/>
            </a:avLst>
          </a:prstGeom>
          <a:solidFill>
            <a:srgbClr val="142748"/>
          </a:solidFill>
          <a:ln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62072" y="4302252"/>
            <a:ext cx="1426464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DATA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166360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Rajeshwari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59552"/>
            <a:ext cx="2743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ABED7"/>
                </a:solidFill>
                <a:latin typeface="Aptos"/>
              </a:rPr>
              <a:t>PRSQ-02 • IMDB Movies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92240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87485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1173</Words>
  <Application>Microsoft Office PowerPoint</Application>
  <PresentationFormat>Widescreen</PresentationFormat>
  <Paragraphs>211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IMDB Movies SQL Analysis – Professional Portfolio Presentation</dc:title>
  <dc:subject>SQL data analysis project using Movies and Directors tables</dc:subject>
  <dc:creator>Rajeshwari</dc:creator>
  <cp:keywords>SQL, MySQL, IMDB, Data Analytics, Portfolio</cp:keywords>
  <dc:description>generated using python-pptx</dc:description>
  <cp:lastModifiedBy>Rajeshwari Pasunuri</cp:lastModifiedBy>
  <cp:revision>1</cp:revision>
  <dcterms:created xsi:type="dcterms:W3CDTF">2013-01-27T09:14:16Z</dcterms:created>
  <dcterms:modified xsi:type="dcterms:W3CDTF">2026-09-11T07:02:30Z</dcterms:modified>
  <cp:category/>
</cp:coreProperties>
</file>